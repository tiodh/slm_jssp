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77440"/>
            <a:ext cx="914400" cy="5080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6FDB"/>
                </a:solidFill>
                <a:latin typeface="Calibri"/>
              </a:rPr>
              <a:t>FINE-TUNING LARGE LANGUAGE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F242E"/>
                </a:solidFill>
                <a:latin typeface="Calibri"/>
              </a:rPr>
              <a:t>Solving the Job-Shop Scheduling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Calibri"/>
              </a:rPr>
              <a:t>A comparative study across four 7–8B instruction-tuned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572000"/>
            <a:ext cx="1051560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Calibri"/>
              </a:rPr>
              <a:t>Starjob Project  ·  LoRA Fine-Tuning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6FDB"/>
                </a:solidFill>
                <a:latin typeface="Calibri"/>
              </a:rPr>
              <a:t>01  ·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42E"/>
                </a:solidFill>
                <a:latin typeface="Calibri"/>
              </a:rPr>
              <a:t>Why scheduling meets language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10996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42E"/>
                </a:solidFill>
                <a:latin typeface="Calibri"/>
              </a:rPr>
              <a:t>The Job-Shop Scheduling Problem (JSSP)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5B6372"/>
                </a:solidFill>
                <a:latin typeface="Calibri"/>
              </a:rPr>
              <a:t>•  Classical NP-hard combinatorial problem: assign n jobs across m machines to minimize makespan.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5B6372"/>
                </a:solidFill>
                <a:latin typeface="Calibri"/>
              </a:rPr>
              <a:t>•  Exact solvers (CP-SAT, MILP) scale poorly; heuristics (dispatching rules, GA) trade optimality for speed.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5B6372"/>
                </a:solidFill>
                <a:latin typeface="Calibri"/>
              </a:rPr>
              <a:t>•  A natural testbed for reasoning-heavy, structured-output generation with language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242E"/>
                </a:solidFill>
                <a:latin typeface="Calibri"/>
              </a:rPr>
              <a:t>Our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5B6372"/>
                </a:solidFill>
                <a:latin typeface="Calibri"/>
              </a:rPr>
              <a:t>•  Can modern 7–8B LLMs learn to produce feasible, near-optimal schedules from natural-language specs?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5B6372"/>
                </a:solidFill>
                <a:latin typeface="Calibri"/>
              </a:rPr>
              <a:t>•  How do different model families (Llama, Ministral, Qwen2, Granite) compare under identical training?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5B6372"/>
                </a:solidFill>
                <a:latin typeface="Calibri"/>
              </a:rPr>
              <a:t>•  Deliver a fair, reproducible benchmark with the Starjob dataset (130k JSSP instances).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Calibri"/>
              </a:rPr>
              <a:t>Starjob · JSSP with 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6FDB"/>
                </a:solidFill>
                <a:latin typeface="Calibri"/>
              </a:rPr>
              <a:t>02  ·  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42E"/>
                </a:solidFill>
                <a:latin typeface="Calibri"/>
              </a:rPr>
              <a:t>Starjob: JSSP as instruction-following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10996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86400" cy="420624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6FDB"/>
                </a:solidFill>
                <a:latin typeface="Calibri"/>
              </a:rPr>
              <a:t>Input (natural language)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502920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Number of jobs n and machines m.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For each job: ordered sequence of (machine, processing-time) operations.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Alpaca-style instruction + input prompt.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486400" cy="420624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6FDB"/>
                </a:solidFill>
                <a:latin typeface="Calibri"/>
              </a:rPr>
              <a:t>Output (structured schedule)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Per-operation start and end times.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Final makespan (lower is better).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1F242E"/>
                </a:solidFill>
                <a:latin typeface="Calibri"/>
              </a:rPr>
              <a:t>•  Must respect job precedence &amp; machine exclusivity.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B6372"/>
                </a:solidFill>
                <a:latin typeface="Calibri"/>
              </a:rPr>
              <a:t>Dataset — Starjob · 130k instances · sizes from 2×2 up to 20×15 · 2% held-out eval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Calibri"/>
              </a:rPr>
              <a:t>Starjob · JSSP with LLMs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6FDB"/>
                </a:solidFill>
                <a:latin typeface="Calibri"/>
              </a:rPr>
              <a:t>03  · 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42E"/>
                </a:solidFill>
                <a:latin typeface="Calibri"/>
              </a:rPr>
              <a:t>Fair comparison across four model families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10996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42E"/>
                </a:solidFill>
                <a:latin typeface="Calibri"/>
              </a:rPr>
              <a:t>Models (all instruction-tuned, 7–8B parameters)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5B6372"/>
                </a:solidFill>
                <a:latin typeface="Calibri"/>
              </a:rPr>
              <a:t>•  Llama-3.1-8B-Instruct  —  Meta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5B6372"/>
                </a:solidFill>
                <a:latin typeface="Calibri"/>
              </a:rPr>
              <a:t>•  Ministral-8B-Instruct  —  Mistral AI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5B6372"/>
                </a:solidFill>
                <a:latin typeface="Calibri"/>
              </a:rPr>
              <a:t>•  Qwen2-7B-Instruct  —  Alibaba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5B6372"/>
                </a:solidFill>
                <a:latin typeface="Calibri"/>
              </a:rPr>
              <a:t>•  Granite-3.2-8B-Instruct  —  IBM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F242E"/>
                </a:solidFill>
                <a:latin typeface="Calibri"/>
              </a:rPr>
              <a:t>Identical training recipe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09728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5B6372"/>
                </a:solidFill>
                <a:latin typeface="Calibri"/>
              </a:rPr>
              <a:t>•  LoRA: r = 32, α = 32, dropout = 0.0, target = all attention + MLP projections.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5B6372"/>
                </a:solidFill>
                <a:latin typeface="Calibri"/>
              </a:rPr>
              <a:t>•  4-bit NF4 quantization · bf16 compute · max seq length 8192 · Unsloth runtime on RTX 4090.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5B6372"/>
                </a:solidFill>
                <a:latin typeface="Calibri"/>
              </a:rPr>
              <a:t>•  Batch 1 × grad-accum 8 · AdamW-8bit · lr 2e-4, linear schedule · 1 epoch · seed 42.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Calibri"/>
              </a:rPr>
              <a:t>Starjob · JSSP with LLMs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457200" cy="3810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6FDB"/>
                </a:solidFill>
                <a:latin typeface="Calibri"/>
              </a:rPr>
              <a:t>04  · 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42E"/>
                </a:solidFill>
                <a:latin typeface="Calibri"/>
              </a:rPr>
              <a:t>From instance to evaluated makespan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109960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2057400" cy="164592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6FDB"/>
                </a:solidFill>
                <a:latin typeface="Calibri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42E"/>
                </a:solidFill>
                <a:latin typeface="Calibri"/>
              </a:rPr>
              <a:t>Starjob
instance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Calibri"/>
              </a:rPr>
              <a:t>JSON → Alpaca prompt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15184" y="3319780"/>
            <a:ext cx="146304" cy="127000"/>
          </a:xfrm>
          <a:prstGeom prst="rightArrow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0632" y="2560320"/>
            <a:ext cx="2057400" cy="164592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3512" y="2697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6FDB"/>
                </a:solidFill>
                <a:latin typeface="Calibri"/>
              </a:rP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3512" y="2971800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42E"/>
                </a:solidFill>
                <a:latin typeface="Calibri"/>
              </a:rPr>
              <a:t>LoRA
fine-tune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361188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Calibri"/>
              </a:rPr>
              <a:t>SFTTrainer (TRL)
+ Unsloth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37176" y="3319780"/>
            <a:ext cx="146304" cy="127000"/>
          </a:xfrm>
          <a:prstGeom prst="rightArrow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92624" y="2560320"/>
            <a:ext cx="2057400" cy="164592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4" y="2697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6FDB"/>
                </a:solidFill>
                <a:latin typeface="Calibr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971800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42E"/>
                </a:solidFill>
                <a:latin typeface="Calibri"/>
              </a:rPr>
              <a:t>Generate
schedule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361188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Calibri"/>
              </a:rPr>
              <a:t>Greedy decode
max 4096 tokens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59168" y="3319780"/>
            <a:ext cx="146304" cy="127000"/>
          </a:xfrm>
          <a:prstGeom prst="rightArrow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14616" y="2560320"/>
            <a:ext cx="2057400" cy="164592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6" y="2697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6FDB"/>
                </a:solidFill>
                <a:latin typeface="Calibri"/>
              </a:rP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2971800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42E"/>
                </a:solidFill>
                <a:latin typeface="Calibri"/>
              </a:rPr>
              <a:t>Parse &amp;
validate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361188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Calibri"/>
              </a:rPr>
              <a:t>Regex extract
feasibility check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281160" y="3319780"/>
            <a:ext cx="146304" cy="127000"/>
          </a:xfrm>
          <a:prstGeom prst="rightArrow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436608" y="2560320"/>
            <a:ext cx="2057400" cy="1645920"/>
          </a:xfrm>
          <a:prstGeom prst="roundRect">
            <a:avLst/>
          </a:prstGeom>
          <a:solidFill>
            <a:srgbClr val="FAFAFA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19488" y="2697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6FDB"/>
                </a:solidFill>
                <a:latin typeface="Calibri"/>
              </a:rPr>
              <a:t>STEP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9488" y="2971800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F242E"/>
                </a:solidFill>
                <a:latin typeface="Calibri"/>
              </a:rPr>
              <a:t>Compute
metrics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9488" y="3611880"/>
            <a:ext cx="1691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Calibri"/>
              </a:rPr>
              <a:t>Gap, exact-match,
feasibility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Calibri"/>
              </a:rPr>
              <a:t>Each model runs through the same pipeline with the same hyper-parameters — differences in the final metrics are attributable to the base model, not the training setup.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242E"/>
                </a:solidFill>
                <a:latin typeface="Calibri"/>
              </a:rPr>
              <a:t>Evaluation metrics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60720"/>
            <a:ext cx="109728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5B6372"/>
                </a:solidFill>
                <a:latin typeface="Calibri"/>
              </a:rPr>
              <a:t>•  Optimality gap %  ·  Exact-match rate  ·  Feasibility rate  ·  MAE  ·  Breakdown by problem size (small / medium / large).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Calibri"/>
              </a:rPr>
              <a:t>Starjob · JSSP with LLMs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926080"/>
            <a:ext cx="914400" cy="50800"/>
          </a:xfrm>
          <a:prstGeom prst="rect">
            <a:avLst/>
          </a:prstGeom>
          <a:solidFill>
            <a:srgbClr val="2E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6FDB"/>
                </a:solidFill>
                <a:latin typeface="Calibri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F242E"/>
                </a:solidFill>
                <a:latin typeface="Calibri"/>
              </a:rPr>
              <a:t>Results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5B6372"/>
                </a:solidFill>
                <a:latin typeface="Calibri"/>
              </a:rPr>
              <a:t>Comparative evaluation across Llama, Ministral, Qwen2, and Granite.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Calibri"/>
              </a:rPr>
              <a:t>Starjob · JSSP with LLMs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